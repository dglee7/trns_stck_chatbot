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077450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60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전체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(1/11)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수입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63%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56%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7.3%p)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62% → 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 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56%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6.6%p)</a:t>
            </a:r>
          </a:p>
        </p:txBody>
      </p:sp>
      <p:pic>
        <p:nvPicPr>
          <p:cNvPr id="9" name="Picture 8" descr="sop_summary_전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04448"/>
              </p:ext>
            </p:extLst>
          </p:nvPr>
        </p:nvGraphicFramePr>
        <p:xfrm>
          <a:off x="5852160" y="2148839"/>
          <a:ext cx="3904488" cy="39690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535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목표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초과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(%)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(%p)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55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전  체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63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▲7.3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▲6.6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화장품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29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34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29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+0.3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▲5.0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패션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75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+0.9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▲4.6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레더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64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▲11.3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▲15.4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주얼리와치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▲0.5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주류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78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77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▲22.6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▲21.6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담배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16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19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10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▲6.5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▲8.8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악세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43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▲14.0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▲13.1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전자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36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▲22.7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▲20.6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식품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34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32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38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+3.2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+6.0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7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아이웨어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▲13.6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▲3.8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카테고리별</a:t>
            </a:r>
          </a:p>
        </p:txBody>
      </p:sp>
      <p:sp>
        <p:nvSpPr>
          <p:cNvPr id="18" name="TextBox Unit"/>
          <p:cNvSpPr txBox="1"/>
          <p:nvPr/>
        </p:nvSpPr>
        <p:spPr>
          <a:xfrm>
            <a:off x="5852160" y="1911553"/>
            <a:ext cx="3904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(단위: %, %p)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화장품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(2/11)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화장품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29%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29% (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+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0.3%p)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34%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29%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5.0%p)</a:t>
            </a:r>
          </a:p>
        </p:txBody>
      </p:sp>
      <p:pic>
        <p:nvPicPr>
          <p:cNvPr id="9" name="Picture 8" descr="sop_summary_화장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억원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202545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464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983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1,062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598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133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334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308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175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▲26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└ </a:t>
                      </a:r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예상판매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29%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34%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29%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+0.3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▲5.0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34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9817C1-9A9F-4FC0-A746-5E3DB1653716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패션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(3/11)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패션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70%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70% (+0.9%p)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75%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70%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4.6%p)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87726" y="1490472"/>
            <a:ext cx="5218664" cy="0"/>
          </a:xfrm>
          <a:prstGeom prst="line">
            <a:avLst/>
          </a:prstGeom>
          <a:ln w="254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sop_summary_패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772961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1,498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1,511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1,522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24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11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1,041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1,132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1,071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▲61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769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902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833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64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▲69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목표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초과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70%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75%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70%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+0.9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▲4.6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A4DB7-0A9E-43F8-B71E-EF325D381D0C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레더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(4/11)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레더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60%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49%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11.3%p)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64%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49%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lang="en-US" altLang="ko-KR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5.4%p)</a:t>
            </a:r>
          </a:p>
        </p:txBody>
      </p:sp>
      <p:pic>
        <p:nvPicPr>
          <p:cNvPr id="9" name="Picture 8" descr="sop_summary_레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205272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111.6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147.9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110.6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▲1.0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▲37.3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66.7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94.5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53.7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▲13.0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▲40.8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32.3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44.0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14.8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▲17.5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▲29.2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60%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64%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49%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▲11.3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▲15.4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66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64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49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EE9AC-7631-42B8-9BD9-857D9CC431C5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주얼리와치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(5/11)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주얼리와치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r>
              <a:rPr sz="1100" b="0" dirty="0">
                <a:solidFill>
                  <a:srgbClr val="000000"/>
                </a:solidFill>
                <a:latin typeface="나눔바른고딕OTF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70%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70%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0.5%p)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72% → 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 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70%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2.9%p)</a:t>
            </a:r>
          </a:p>
        </p:txBody>
      </p:sp>
      <p:pic>
        <p:nvPicPr>
          <p:cNvPr id="9" name="Picture 8" descr="sop_summary_주얼리와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464049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983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897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814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▲169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▲83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689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650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566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▲122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▲84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672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635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554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▲118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▲82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70%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72%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70%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▲0.5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▲2.9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68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3ECC24-360D-4D1B-8B8C-32F1F13840B4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주류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(6/11)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주류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78%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55%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22.6%p)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77% → 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 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55%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21.6%p)</a:t>
            </a:r>
          </a:p>
        </p:txBody>
      </p:sp>
      <p:pic>
        <p:nvPicPr>
          <p:cNvPr id="9" name="Picture 8" descr="sop_summary_주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012524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98.1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213.2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144.1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46.0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▲69.2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76.4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163.9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79.7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3.3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▲84.2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47.4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51.8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32.7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▲14.7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▲19.0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78%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77%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55%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▲22.6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▲21.6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70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54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BEF4E0-F19E-464A-BA2C-8B8BE10415B3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담배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(7/11)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담배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16%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10%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6.5%p)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19% → 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 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10%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8.8%p)</a:t>
            </a:r>
          </a:p>
        </p:txBody>
      </p:sp>
      <p:pic>
        <p:nvPicPr>
          <p:cNvPr id="9" name="Picture 8" descr="sop_summary_담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15647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12.3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45.5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49.8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37.5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4.3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2.9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▲3.6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0.3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0.5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0.8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0.5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B3261E"/>
                          </a:solidFill>
                          <a:latin typeface="나눔바른고딕OTF"/>
                        </a:rPr>
                        <a:t>0.3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16%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19%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10%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▲6.5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▲8.8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16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8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24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19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11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11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10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D2B14-118A-4597-822A-2FC8592E4058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악세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(8/11)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악세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57%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43%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14.0%p)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56%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43%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13.1%p)</a:t>
            </a:r>
          </a:p>
        </p:txBody>
      </p:sp>
      <p:pic>
        <p:nvPicPr>
          <p:cNvPr id="9" name="Picture 8" descr="sop_summary_악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639485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20.6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24.0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21.5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0.9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▲2.5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11.7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13.5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▲2.5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▲4.2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8.4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9.1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6.0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▲2.4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▲3.0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57%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56%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43%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▲14.0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▲13.1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43</a:t>
                      </a:r>
                      <a:endParaRPr sz="950" dirty="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A21897-DA96-4326-98C0-389C8EDA629A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전자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(9/11)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전자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59%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36%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22.7%p)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57%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36%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 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20.6%p)</a:t>
            </a:r>
          </a:p>
        </p:txBody>
      </p:sp>
      <p:pic>
        <p:nvPicPr>
          <p:cNvPr id="9" name="Picture 8" descr="sop_summary_전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11799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10.9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11.3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17.2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6.2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5.9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▲0.2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▲0.2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3.5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3.6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3.5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7F7F7F"/>
                          </a:solidFill>
                          <a:latin typeface="나눔바른고딕OTF"/>
                        </a:rPr>
                        <a:t>-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▲0.1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59%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57%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36%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▲22.7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▲20.6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61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45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EC8FB-2C8A-449C-8418-A0ADEDB47FC3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식품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(10/11)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식품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34%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38% (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+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3.2%p)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32%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38% (+6.0%p)</a:t>
            </a:r>
          </a:p>
        </p:txBody>
      </p:sp>
      <p:pic>
        <p:nvPicPr>
          <p:cNvPr id="9" name="Picture 8" descr="sop_summary_식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187461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20.0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21.6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29.3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9.2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7.7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11.0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4.1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4.2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1.1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▲0.5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▲0.8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34%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32%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38%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+3.2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B3261E"/>
                          </a:solidFill>
                          <a:latin typeface="나눔바른고딕OTF"/>
                        </a:rPr>
                        <a:t>+6.0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34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23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562D56-E3D0-42F0-851D-4A10CF4AC0C7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78023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나눔바른고딕OTF"/>
              </a:rPr>
              <a:t>1.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목표재고일수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재고</a:t>
            </a:r>
            <a:r>
              <a:rPr sz="2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나눔바른고딕OTF"/>
              </a:rPr>
              <a:t>추이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(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아이웨어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7472" y="722376"/>
            <a:ext cx="94183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36008" y="7306056"/>
            <a:ext cx="813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(11/11)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983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나눔바른고딕OTF"/>
              </a:rPr>
              <a:t>■ 26.1~9월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아이웨어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월말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재고원가와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4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100" b="0" dirty="0">
              <a:solidFill>
                <a:srgbClr val="000000"/>
              </a:solidFill>
              <a:latin typeface="나눔바른고딕OT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25852"/>
            <a:ext cx="90525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목표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초과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비중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1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56% →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42%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13.6%p) / </a:t>
            </a:r>
            <a:r>
              <a:rPr sz="1300" b="1" dirty="0" err="1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인천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후 4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46% →</a:t>
            </a:r>
            <a:r>
              <a:rPr 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9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42% (</a:t>
            </a:r>
            <a:r>
              <a:rPr lang="ko-KR" altLang="en-US"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▲</a:t>
            </a:r>
            <a:r>
              <a:rPr sz="1300" b="1" dirty="0">
                <a:solidFill>
                  <a:srgbClr val="0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3.8%p)</a:t>
            </a:r>
          </a:p>
        </p:txBody>
      </p:sp>
      <p:pic>
        <p:nvPicPr>
          <p:cNvPr id="9" name="Picture 8" descr="sop_summary_아이웨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394960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191155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나눔바른고딕OTF"/>
              </a:rPr>
              <a:t>(단위: 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11553"/>
            <a:ext cx="39136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나눔바른고딕OTF"/>
              </a:rPr>
              <a:t>(단위: 억원, %, %p)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44176"/>
              </p:ext>
            </p:extLst>
          </p:nvPr>
        </p:nvGraphicFramePr>
        <p:xfrm>
          <a:off x="5852160" y="2158441"/>
          <a:ext cx="3913632" cy="279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구 분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증감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4.30→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재고원가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60.8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50.0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61.4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0.7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000000"/>
                          </a:solidFill>
                          <a:latin typeface="나눔바른고딕OTF"/>
                        </a:rPr>
                        <a:t>11.4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원가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33.8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22.9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25.8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▲8.0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3261E"/>
                          </a:solidFill>
                          <a:latin typeface="나눔바른고딕OTF"/>
                        </a:rPr>
                        <a:t>2.9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└ 예상판매 0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8.1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5.6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00000"/>
                          </a:solidFill>
                          <a:latin typeface="나눔바른고딕OTF"/>
                        </a:rPr>
                        <a:t>4.9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▲3.1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6FB2"/>
                          </a:solidFill>
                          <a:latin typeface="나눔바른고딕OTF"/>
                        </a:rPr>
                        <a:t>▲0.6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35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목표 초과 비중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56%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46%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나눔바른고딕OTF"/>
                        </a:rPr>
                        <a:t>42%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6FB2"/>
                          </a:solidFill>
                          <a:latin typeface="나눔바른고딕OTF"/>
                        </a:rPr>
                        <a:t>▲13.6</a:t>
                      </a:r>
                      <a:endParaRPr sz="105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6FB2"/>
                          </a:solidFill>
                          <a:latin typeface="나눔바른고딕OTF"/>
                        </a:rPr>
                        <a:t>▲3.8</a:t>
                      </a:r>
                      <a:endParaRPr sz="10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16681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월별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목표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초과</a:t>
            </a:r>
            <a:r>
              <a:rPr sz="1000" b="1" dirty="0">
                <a:solidFill>
                  <a:srgbClr val="000000"/>
                </a:solidFill>
                <a:latin typeface="나눔바른고딕OTF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나눔바른고딕OTF"/>
              </a:rPr>
              <a:t>비중</a:t>
            </a:r>
            <a:endParaRPr sz="1000" b="1" dirty="0">
              <a:solidFill>
                <a:srgbClr val="000000"/>
              </a:solidFill>
              <a:latin typeface="나눔바른고딕OT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5413705"/>
          <a:ext cx="3915459" cy="658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월말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1.31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2.28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3.31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4.30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5.31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6.30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7.31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8.31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9.30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나눔바른고딕OTF"/>
                        </a:rPr>
                        <a:t>비중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noFill/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57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50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46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43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39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34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40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나눔바른고딕OTF"/>
                        </a:rPr>
                        <a:t>42</a:t>
                      </a:r>
                      <a:endParaRPr sz="950"/>
                    </a:p>
                  </a:txBody>
                  <a:tcPr marL="18288" marR="18288" marT="0" marB="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858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수입 운영 SKU(월별) · 재고 = 판매가용(오프라인+온라인) 전 매장 합 · 재고원가 = 재고 × 월말일 단위원가 · 목표 초과 = (재고 − 목표재고일수 × 일평균 예상판매) 초과분, 예상판매 0이면 재고 전량</a:t>
            </a:r>
          </a:p>
          <a:p>
            <a:pPr algn="l"/>
            <a:r>
              <a:rPr sz="850" b="0">
                <a:solidFill>
                  <a:srgbClr val="7F7F7F"/>
                </a:solidFill>
                <a:latin typeface="나눔바른고딕OTF"/>
              </a:rPr>
              <a:t>※ 예상판매: 패션·레더·아이웨어 = 점별 팔림세 이력(직전 30~120일 일평균, 1.31은 2.28 값), 그 외 = 권장발주용 예측 · 4.17 인천공항점 개점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724204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7F7F7F"/>
                </a:solidFill>
                <a:latin typeface="나눔바른고딕OTF"/>
              </a:rPr>
              <a:t>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D70D9F-5082-498C-8E5F-FCACA01215EB}"/>
              </a:ext>
            </a:extLst>
          </p:cNvPr>
          <p:cNvSpPr txBox="1"/>
          <p:nvPr/>
        </p:nvSpPr>
        <p:spPr>
          <a:xfrm>
            <a:off x="5870448" y="5153337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000000"/>
                </a:solidFill>
                <a:latin typeface="나눔바른고딕OTF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나눔바른고딕OTF"/>
              </a:rPr>
              <a:t>단위</a:t>
            </a:r>
            <a:r>
              <a:rPr sz="1000" b="0" dirty="0">
                <a:solidFill>
                  <a:srgbClr val="000000"/>
                </a:solidFill>
                <a:latin typeface="나눔바른고딕OTF"/>
              </a:rPr>
              <a:t>: 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2546</Words>
  <Application>Microsoft Office PowerPoint</Application>
  <PresentationFormat>사용자 지정</PresentationFormat>
  <Paragraphs>702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나눔바른고딕OTF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이동근</cp:lastModifiedBy>
  <cp:revision>3</cp:revision>
  <dcterms:created xsi:type="dcterms:W3CDTF">2013-01-27T09:14:16Z</dcterms:created>
  <dcterms:modified xsi:type="dcterms:W3CDTF">2026-10-19T06:31:19Z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TraceInfo" pid="2">
    <vt:lpwstr>/////9X///8=HsVuMcjqzjt5D9VVst7QUYa2d6wGFfGdFBsrILpKBXD7hI2N2wX9NgLBhIOtta6blRzmD1cyBr0lThL5z9rQm36fgOyWfAZKvAicK3fa1rw3OE7+Q95gKz1A9LkTAoywe7GgM5rkV8KXXONacAyfhyMgeDG1ITM0hT6b6A0=</vt:lpwstr>
  </property>
  <property fmtid="{D5CDD505-2E9C-101B-9397-08002B2CF9AE}" name="Fasoo_Trace_ID" pid="3">
    <vt:lpwstr>eyJub2RlMSI6eyJkc2QiOiIwMTAwMDAwMDAwMDAyMTEyIiwibG9nVGltZSI6IjIwMjYtMTAtMTlUMDY6MzE6MTlaIiwicElEIjoxLCJwcm9jZXNzSWQiOjIxMTI4LCJwcm9jZXNzTmFtZSI6IlBPV0VSUE5ULkVYRSIsInRyYWNlSWQiOiI2QkY4MjhCQTE0Rjc0ODE0QUQyMjg0MzlGNjAwQzQxQiIsInVzZXJDb2RlIjoiZGdsZWU3In0sIm5vZGUyIjp7ImRzZCI6IjAxMDAwMDAwMDAwMDIxMTIiLCJsb2dUaW1lIjoiMjAyNi0xMC0xOVQwNjozMToxOVoiLCJwSUQiOjEsInByb2Nlc3NJZCI6MjExMjgsInByb2Nlc3NOYW1lIjoiUE9XRVJQTlQuRVhFIiwidHJhY2VJZCI6IjZCRjgyOEJBMTRGNzQ4MTRBRDIyODQzOUY2MDBDNDFCIiwidXNlckNvZGUiOiJkZ2xlZTcifSwibm9kZTMiOnsiZHNkIjoiMDEwMDAwMDAwMDAwMjExMiIsImxvZ1RpbWUiOiIyMDI2LTEwLTE5VDA2OjMxOjE5WiIsInBJRCI6MSwicHJvY2Vzc0lkIjoyMTEyOCwicHJvY2Vzc05hbWUiOiJQT1dFUlBOVC5FWEUiLCJ0cmFjZUlkIjoiNkJGODI4QkExNEY3NDgxNEFEMjI4NDM5RjYwMEM0MUIiLCJ1c2VyQ29kZSI6ImRnbGVlNyJ9LCJub2RlNCI6eyJkc2QiOiIwMTAwMDAwMDAwMDAyMTEyIiwibG9nVGltZSI6IjIwMjYtMTAtMTlUMDY6MzE6MTlaIiwicElEIjoxLCJwcm9jZXNzSWQiOjIxMTI4LCJwcm9jZXNzTmFtZSI6IlBPV0VSUE5ULkVYRSIsInRyYWNlSWQiOiI2QkY4MjhCQTE0Rjc0ODE0QUQyMjg0MzlGNjAwQzQxQiIsInVzZXJDb2RlIjoiZGdsZWU3In0sIm5vZGU1Ijp7ImRzZCI6IjAwMDAwMDAwMDAwMDAwMDAiLCJsb2dUaW1lIjoiMjAyNi0xMC0xOVQwNjozMzoxMloiLCJwSUQiIDogMjA0OCwicHJvY2Vzc0lkIjoxMDQ4OCwicHJvY2Vzc05hbWUiOiJqYXZhLmV4ZSIsInRyYWNlSWQiOiIwMDhENDhBOTJGNkIxNERGMTUzMUExNjk5MkI5RTJBRSIsInVzZXJDb2RlIjoiIn0sIm5vZGVDb3VudCI6Miwicm9vdFRyYWNlSWQiOiI2QkY4MjhCQTE0Rjc0ODE0QUQyMjg0MzlGNjAwQzQxQiJ9</vt:lpwstr>
  </property>
</Properties>
</file>